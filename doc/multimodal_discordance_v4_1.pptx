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01"/>
  </p:normalViewPr>
  <p:slideViewPr>
    <p:cSldViewPr snapToGrid="0" snapToObjects="1">
      <p:cViewPr varScale="1">
        <p:scale>
          <a:sx n="132" d="100"/>
          <a:sy n="132" d="100"/>
        </p:scale>
        <p:origin x="208" y="160"/>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443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Today I'd like to introduce our new project: Multimodal Discordance Detection in Medical data.</a:t>
            </a:r>
          </a:p>
          <a:p>
            <a:r>
              <a:rPr lang="en-US" sz="1200" kern="1200" dirty="0">
                <a:solidFill>
                  <a:schemeClr val="tx1"/>
                </a:solidFill>
                <a:effectLst/>
                <a:latin typeface="+mn-lt"/>
                <a:ea typeface="+mn-ea"/>
                <a:cs typeface="+mn-cs"/>
              </a:rPr>
              <a:t>In clinical practice, doctors integrate multiple information sources, like imaging, labs, vital signs, to reach a diagnosis. But what if they contradict each other? Can we build AI that recognizes when the available data is insufficient to decide? That‘s the key question driving this project.</a:t>
            </a:r>
          </a:p>
          <a:p>
            <a:r>
              <a:rPr lang="en-US" sz="1200" kern="1200" dirty="0">
                <a:solidFill>
                  <a:schemeClr val="tx1"/>
                </a:solidFill>
                <a:effectLst/>
                <a:latin typeface="+mn-lt"/>
                <a:ea typeface="+mn-ea"/>
                <a:cs typeface="+mn-cs"/>
              </a:rPr>
              <a:t>We’re going to use multimodal data from MIMIC dataset and </a:t>
            </a:r>
            <a:r>
              <a:rPr lang="en-US" sz="1200"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for </a:t>
            </a:r>
            <a:r>
              <a:rPr lang="en-US" sz="1200" kern="1200">
                <a:solidFill>
                  <a:schemeClr val="tx1"/>
                </a:solidFill>
                <a:effectLst/>
                <a:latin typeface="+mn-lt"/>
                <a:ea typeface="+mn-ea"/>
                <a:cs typeface="+mn-cs"/>
              </a:rPr>
              <a:t>vision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Here's a concrete example. In the emergency department, a patient presents with respiratory failure. Chest X-ray shows bilateral infiltrates. If BNP is elevated with high BP and no fever, it looks like heart failure. If BNP is normal with high WBC and high fever, it looks like pneumonia. Same imaging, but discordant labs and vitals shift the diagnosis entirely.</a:t>
            </a:r>
          </a:p>
          <a:p>
            <a:r>
              <a:rPr lang="en-US" sz="1200" kern="1200" dirty="0">
                <a:solidFill>
                  <a:schemeClr val="tx1"/>
                </a:solidFill>
                <a:effectLst/>
                <a:latin typeface="+mn-lt"/>
                <a:ea typeface="+mn-ea"/>
                <a:cs typeface="+mn-cs"/>
              </a:rPr>
              <a:t>The key point here is that there is no correct answer when data is discordant. So the "correct" behavior for AI isn't reaching the right answer. It's recognizing that the available information is discordant and insufficient to decide.</a:t>
            </a:r>
          </a:p>
          <a:p>
            <a:r>
              <a:rPr lang="en-US" sz="1200" kern="1200" dirty="0">
                <a:solidFill>
                  <a:schemeClr val="tx1"/>
                </a:solidFill>
                <a:effectLst/>
                <a:latin typeface="+mn-lt"/>
                <a:ea typeface="+mn-ea"/>
                <a:cs typeface="+mn-cs"/>
              </a:rPr>
              <a:t>Good clinicians do exactly this in clinical practice. When data conflicts, they order additional tests rather than guessing. Current AI can't do this. It always answers confidently, never says "I need more data." Teaching AI to recognize when it doesn't know. That's the core of this project.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project includes two foundation steps plus additional research options you can choose from, or come up with your own. Foundation. Step 1: extract respiratory failure cases from MIMIC-CXR and MIMIC-IV, build a 3-modality benchmark across pneumonia, heart failure, and pneumothorax. Step 2: run concordant data through </a:t>
            </a:r>
            <a:r>
              <a:rPr lang="en-US" sz="1200"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to establish baseline accuracy, entropy, and confidence. Then pick your research option.</a:t>
            </a:r>
          </a:p>
          <a:p>
            <a:r>
              <a:rPr lang="en-US" sz="1200" kern="1200" dirty="0">
                <a:solidFill>
                  <a:schemeClr val="tx1"/>
                </a:solidFill>
                <a:effectLst/>
                <a:latin typeface="+mn-lt"/>
                <a:ea typeface="+mn-ea"/>
                <a:cs typeface="+mn-cs"/>
              </a:rPr>
              <a:t>Option A: Uncertainty Recognition. Introduce discordance between modalities and measure whether AI's uncertainty rises appropriately. Like, does entropy go up, or does confidence drop? This directly evaluates whether AI can say "I don't know" when it shouldn't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Option B: Value of Additional Data. When AI is uncertain with two modalities, add the third. Does the diagnosis converge? This directly measures the value of requesting more information.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Option C: RL Implementation. Train a reinforcement learning agent to answer when confident and request more data when uncertain. This is the advanced track.</a:t>
            </a:r>
          </a:p>
          <a:p>
            <a:r>
              <a:rPr lang="en-US" sz="1200" kern="1200" dirty="0">
                <a:solidFill>
                  <a:schemeClr val="tx1"/>
                </a:solidFill>
                <a:effectLst/>
                <a:latin typeface="+mn-lt"/>
                <a:ea typeface="+mn-ea"/>
                <a:cs typeface="+mn-cs"/>
              </a:rPr>
              <a:t>Based on your interests and skills, you can plan as you like.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pic>
        <p:nvPicPr>
          <p:cNvPr id="3" name="Image 0" descr="preencoded.png"/>
          <p:cNvPicPr>
            <a:picLocks noChangeAspect="1"/>
          </p:cNvPicPr>
          <p:nvPr/>
        </p:nvPicPr>
        <p:blipFill>
          <a:blip r:embed="rId3">
            <a:alphaModFix amt="15000"/>
          </a:blip>
          <a:stretch>
            <a:fillRect/>
          </a:stretch>
        </p:blipFill>
        <p:spPr>
          <a:xfrm>
            <a:off x="7132320" y="457200"/>
            <a:ext cx="1645920" cy="1645920"/>
          </a:xfrm>
          <a:prstGeom prst="rect">
            <a:avLst/>
          </a:prstGeom>
        </p:spPr>
      </p:pic>
      <p:sp>
        <p:nvSpPr>
          <p:cNvPr id="4" name="Text 1"/>
          <p:cNvSpPr/>
          <p:nvPr/>
        </p:nvSpPr>
        <p:spPr>
          <a:xfrm>
            <a:off x="731520" y="731520"/>
            <a:ext cx="6858000" cy="201168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Multimodal Discordance</a:t>
            </a:r>
            <a:endParaRPr lang="en-US" sz="3600" dirty="0"/>
          </a:p>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Detection in</a:t>
            </a:r>
            <a:endParaRPr lang="en-US" sz="3600" dirty="0"/>
          </a:p>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Medical data</a:t>
            </a:r>
            <a:endParaRPr lang="en-US" sz="3600" dirty="0"/>
          </a:p>
        </p:txBody>
      </p:sp>
      <p:sp>
        <p:nvSpPr>
          <p:cNvPr id="5" name="Text 2"/>
          <p:cNvSpPr/>
          <p:nvPr/>
        </p:nvSpPr>
        <p:spPr>
          <a:xfrm>
            <a:off x="731520" y="2743200"/>
            <a:ext cx="6858000" cy="457200"/>
          </a:xfrm>
          <a:prstGeom prst="rect">
            <a:avLst/>
          </a:prstGeom>
          <a:noFill/>
          <a:ln/>
        </p:spPr>
        <p:txBody>
          <a:bodyPr wrap="square" lIns="0" tIns="0" rIns="0" bIns="0" rtlCol="0" anchor="ctr"/>
          <a:lstStyle/>
          <a:p>
            <a:pPr marL="0" indent="0">
              <a:buNone/>
            </a:pPr>
            <a:r>
              <a:rPr lang="en-US" sz="1500" i="1" dirty="0">
                <a:solidFill>
                  <a:srgbClr val="0D9488"/>
                </a:solidFill>
                <a:latin typeface="Calibri" pitchFamily="34" charset="0"/>
                <a:ea typeface="Calibri" pitchFamily="34" charset="-122"/>
                <a:cs typeface="Calibri" pitchFamily="34" charset="-120"/>
              </a:rPr>
              <a:t>Can clinical AI recognize when it doesn't know?</a:t>
            </a:r>
            <a:endParaRPr lang="en-US" sz="1500" dirty="0"/>
          </a:p>
        </p:txBody>
      </p:sp>
      <p:sp>
        <p:nvSpPr>
          <p:cNvPr id="6" name="Shape 3"/>
          <p:cNvSpPr/>
          <p:nvPr/>
        </p:nvSpPr>
        <p:spPr>
          <a:xfrm>
            <a:off x="731520" y="3337560"/>
            <a:ext cx="2743200" cy="0"/>
          </a:xfrm>
          <a:prstGeom prst="line">
            <a:avLst/>
          </a:prstGeom>
          <a:noFill/>
          <a:ln w="25400">
            <a:solidFill>
              <a:srgbClr val="0D9488"/>
            </a:solidFill>
            <a:prstDash val="solid"/>
          </a:ln>
        </p:spPr>
        <p:txBody>
          <a:bodyPr/>
          <a:lstStyle/>
          <a:p>
            <a:endParaRPr lang="en-US"/>
          </a:p>
        </p:txBody>
      </p:sp>
      <p:sp>
        <p:nvSpPr>
          <p:cNvPr id="16" name="Text 10"/>
          <p:cNvSpPr/>
          <p:nvPr/>
        </p:nvSpPr>
        <p:spPr>
          <a:xfrm>
            <a:off x="731520" y="3550157"/>
            <a:ext cx="5486400" cy="274320"/>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MIT Critical data</a:t>
            </a:r>
            <a:endParaRPr lang="en-US" sz="1200" dirty="0"/>
          </a:p>
        </p:txBody>
      </p:sp>
      <p:sp>
        <p:nvSpPr>
          <p:cNvPr id="17" name="Text 11"/>
          <p:cNvSpPr/>
          <p:nvPr/>
        </p:nvSpPr>
        <p:spPr>
          <a:xfrm>
            <a:off x="731520" y="3824477"/>
            <a:ext cx="548640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MIMIC-CXR  ·  MIMIC-IV  ·  </a:t>
            </a:r>
            <a:r>
              <a:rPr lang="en-US" sz="1000" dirty="0" err="1">
                <a:solidFill>
                  <a:srgbClr val="94A3B8"/>
                </a:solidFill>
                <a:latin typeface="Calibri" pitchFamily="34" charset="0"/>
                <a:ea typeface="Calibri" pitchFamily="34" charset="-122"/>
                <a:cs typeface="Calibri" pitchFamily="34" charset="-120"/>
              </a:rPr>
              <a:t>MedGemma</a:t>
            </a:r>
            <a:endParaRPr lang="en-US" sz="1000" dirty="0"/>
          </a:p>
        </p:txBody>
      </p:sp>
      <p:sp>
        <p:nvSpPr>
          <p:cNvPr id="18" name="Shape 12"/>
          <p:cNvSpPr/>
          <p:nvPr/>
        </p:nvSpPr>
        <p:spPr>
          <a:xfrm>
            <a:off x="0" y="5088636"/>
            <a:ext cx="9144000" cy="54864"/>
          </a:xfrm>
          <a:prstGeom prst="rect">
            <a:avLst/>
          </a:prstGeom>
          <a:solidFill>
            <a:srgbClr val="0D9488"/>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548640" y="228600"/>
            <a:ext cx="347472" cy="347472"/>
          </a:xfrm>
          <a:prstGeom prst="rect">
            <a:avLst/>
          </a:prstGeom>
        </p:spPr>
      </p:pic>
      <p:sp>
        <p:nvSpPr>
          <p:cNvPr id="4" name="Text 1"/>
          <p:cNvSpPr/>
          <p:nvPr/>
        </p:nvSpPr>
        <p:spPr>
          <a:xfrm>
            <a:off x="1005840" y="182880"/>
            <a:ext cx="7589520" cy="457200"/>
          </a:xfrm>
          <a:prstGeom prst="rect">
            <a:avLst/>
          </a:prstGeom>
          <a:noFill/>
          <a:ln/>
        </p:spPr>
        <p:txBody>
          <a:bodyPr wrap="square" lIns="0" tIns="0" rIns="0" bIns="0" rtlCol="0" anchor="ctr"/>
          <a:lstStyle/>
          <a:p>
            <a:r>
              <a:rPr lang="en-US" sz="2400" b="1" dirty="0">
                <a:solidFill>
                  <a:schemeClr val="bg1"/>
                </a:solidFill>
              </a:rPr>
              <a:t>How Does AI Behave When Data Conflicts?</a:t>
            </a:r>
            <a:endParaRPr lang="en-US" sz="2100" b="1" dirty="0">
              <a:solidFill>
                <a:schemeClr val="bg1"/>
              </a:solidFill>
            </a:endParaRPr>
          </a:p>
        </p:txBody>
      </p:sp>
      <p:sp>
        <p:nvSpPr>
          <p:cNvPr id="5" name="Shape 2"/>
          <p:cNvSpPr/>
          <p:nvPr/>
        </p:nvSpPr>
        <p:spPr>
          <a:xfrm>
            <a:off x="548640" y="777240"/>
            <a:ext cx="8046720" cy="0"/>
          </a:xfrm>
          <a:prstGeom prst="line">
            <a:avLst/>
          </a:prstGeom>
          <a:noFill/>
          <a:ln w="12700">
            <a:solidFill>
              <a:srgbClr val="1B2A4A"/>
            </a:solidFill>
            <a:prstDash val="solid"/>
          </a:ln>
        </p:spPr>
        <p:txBody>
          <a:bodyPr/>
          <a:lstStyle/>
          <a:p>
            <a:endParaRPr lang="en-US"/>
          </a:p>
        </p:txBody>
      </p:sp>
      <p:sp>
        <p:nvSpPr>
          <p:cNvPr id="6" name="Shape 3"/>
          <p:cNvSpPr/>
          <p:nvPr/>
        </p:nvSpPr>
        <p:spPr>
          <a:xfrm>
            <a:off x="548640" y="1005840"/>
            <a:ext cx="3840480" cy="2743200"/>
          </a:xfrm>
          <a:prstGeom prst="rect">
            <a:avLst/>
          </a:prstGeom>
          <a:solidFill>
            <a:srgbClr val="1B2A4A"/>
          </a:solidFill>
          <a:ln/>
        </p:spPr>
        <p:txBody>
          <a:bodyPr/>
          <a:lstStyle/>
          <a:p>
            <a:endParaRPr lang="en-US" dirty="0"/>
          </a:p>
        </p:txBody>
      </p:sp>
      <p:sp>
        <p:nvSpPr>
          <p:cNvPr id="7" name="Text 4"/>
          <p:cNvSpPr/>
          <p:nvPr/>
        </p:nvSpPr>
        <p:spPr>
          <a:xfrm>
            <a:off x="777240" y="1097280"/>
            <a:ext cx="3383280" cy="274320"/>
          </a:xfrm>
          <a:prstGeom prst="rect">
            <a:avLst/>
          </a:prstGeom>
          <a:noFill/>
          <a:ln/>
        </p:spPr>
        <p:txBody>
          <a:bodyPr wrap="square" lIns="0" tIns="0" rIns="0" bIns="0" rtlCol="0" anchor="ctr"/>
          <a:lstStyle/>
          <a:p>
            <a:pPr marL="0" indent="0">
              <a:buNone/>
            </a:pPr>
            <a:r>
              <a:rPr lang="en-US" sz="1300" b="1" dirty="0">
                <a:solidFill>
                  <a:srgbClr val="0D9488"/>
                </a:solidFill>
                <a:latin typeface="Trebuchet MS" pitchFamily="34" charset="0"/>
                <a:ea typeface="Trebuchet MS" pitchFamily="34" charset="-122"/>
                <a:cs typeface="Trebuchet MS" pitchFamily="34" charset="-120"/>
              </a:rPr>
              <a:t>Clinical Scenario --- Respiratory Failure </a:t>
            </a:r>
            <a:endParaRPr lang="en-US" sz="1300" dirty="0"/>
          </a:p>
        </p:txBody>
      </p:sp>
      <p:sp>
        <p:nvSpPr>
          <p:cNvPr id="8" name="Shape 5"/>
          <p:cNvSpPr/>
          <p:nvPr/>
        </p:nvSpPr>
        <p:spPr>
          <a:xfrm>
            <a:off x="777240" y="1508760"/>
            <a:ext cx="1005840" cy="640080"/>
          </a:xfrm>
          <a:prstGeom prst="rect">
            <a:avLst/>
          </a:prstGeom>
          <a:solidFill>
            <a:srgbClr val="162038"/>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1124712" y="1581912"/>
            <a:ext cx="256032" cy="256032"/>
          </a:xfrm>
          <a:prstGeom prst="rect">
            <a:avLst/>
          </a:prstGeom>
        </p:spPr>
      </p:pic>
      <p:sp>
        <p:nvSpPr>
          <p:cNvPr id="10" name="Text 6"/>
          <p:cNvSpPr/>
          <p:nvPr/>
        </p:nvSpPr>
        <p:spPr>
          <a:xfrm>
            <a:off x="777240" y="1874520"/>
            <a:ext cx="1005840" cy="228600"/>
          </a:xfrm>
          <a:prstGeom prst="rect">
            <a:avLst/>
          </a:prstGeom>
          <a:noFill/>
          <a:ln/>
        </p:spPr>
        <p:txBody>
          <a:bodyPr wrap="square" lIns="0" tIns="0" rIns="0" bIns="0" rtlCol="0" anchor="ctr"/>
          <a:lstStyle/>
          <a:p>
            <a:pPr marL="0" indent="0" algn="ctr">
              <a:buNone/>
            </a:pPr>
            <a:r>
              <a:rPr lang="en-US" sz="900" dirty="0">
                <a:solidFill>
                  <a:srgbClr val="3B82F6"/>
                </a:solidFill>
                <a:latin typeface="Calibri" pitchFamily="34" charset="0"/>
                <a:ea typeface="Calibri" pitchFamily="34" charset="-122"/>
                <a:cs typeface="Calibri" pitchFamily="34" charset="-120"/>
              </a:rPr>
              <a:t>CXR</a:t>
            </a:r>
            <a:endParaRPr lang="en-US" sz="900" dirty="0"/>
          </a:p>
        </p:txBody>
      </p:sp>
      <p:sp>
        <p:nvSpPr>
          <p:cNvPr id="11" name="Shape 7"/>
          <p:cNvSpPr/>
          <p:nvPr/>
        </p:nvSpPr>
        <p:spPr>
          <a:xfrm>
            <a:off x="1965960" y="1508760"/>
            <a:ext cx="1005840" cy="640080"/>
          </a:xfrm>
          <a:prstGeom prst="rect">
            <a:avLst/>
          </a:prstGeom>
          <a:solidFill>
            <a:srgbClr val="162038"/>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2313432" y="1581912"/>
            <a:ext cx="256032" cy="256032"/>
          </a:xfrm>
          <a:prstGeom prst="rect">
            <a:avLst/>
          </a:prstGeom>
        </p:spPr>
      </p:pic>
      <p:sp>
        <p:nvSpPr>
          <p:cNvPr id="13" name="Text 8"/>
          <p:cNvSpPr/>
          <p:nvPr/>
        </p:nvSpPr>
        <p:spPr>
          <a:xfrm>
            <a:off x="1965960" y="1874520"/>
            <a:ext cx="1005840" cy="228600"/>
          </a:xfrm>
          <a:prstGeom prst="rect">
            <a:avLst/>
          </a:prstGeom>
          <a:noFill/>
          <a:ln/>
        </p:spPr>
        <p:txBody>
          <a:bodyPr wrap="square" lIns="0" tIns="0" rIns="0" bIns="0" rtlCol="0" anchor="ctr"/>
          <a:lstStyle/>
          <a:p>
            <a:pPr marL="0" indent="0" algn="ctr">
              <a:buNone/>
            </a:pPr>
            <a:r>
              <a:rPr lang="en-US" sz="900" dirty="0">
                <a:solidFill>
                  <a:srgbClr val="F59E0B"/>
                </a:solidFill>
                <a:latin typeface="Calibri" pitchFamily="34" charset="0"/>
                <a:ea typeface="Calibri" pitchFamily="34" charset="-122"/>
                <a:cs typeface="Calibri" pitchFamily="34" charset="-120"/>
              </a:rPr>
              <a:t>Lab</a:t>
            </a:r>
            <a:endParaRPr lang="en-US" sz="900" dirty="0"/>
          </a:p>
        </p:txBody>
      </p:sp>
      <p:sp>
        <p:nvSpPr>
          <p:cNvPr id="14" name="Shape 9"/>
          <p:cNvSpPr/>
          <p:nvPr/>
        </p:nvSpPr>
        <p:spPr>
          <a:xfrm>
            <a:off x="3154680" y="1508760"/>
            <a:ext cx="1005840" cy="640080"/>
          </a:xfrm>
          <a:prstGeom prst="rect">
            <a:avLst/>
          </a:prstGeom>
          <a:solidFill>
            <a:srgbClr val="162038"/>
          </a:solidFill>
          <a:ln/>
        </p:spPr>
        <p:txBody>
          <a:bodyPr/>
          <a:lstStyle/>
          <a:p>
            <a:endParaRPr lang="en-US"/>
          </a:p>
        </p:txBody>
      </p:sp>
      <p:pic>
        <p:nvPicPr>
          <p:cNvPr id="15" name="Image 3" descr="preencoded.png"/>
          <p:cNvPicPr>
            <a:picLocks noChangeAspect="1"/>
          </p:cNvPicPr>
          <p:nvPr/>
        </p:nvPicPr>
        <p:blipFill>
          <a:blip r:embed="rId6"/>
          <a:stretch>
            <a:fillRect/>
          </a:stretch>
        </p:blipFill>
        <p:spPr>
          <a:xfrm>
            <a:off x="3502152" y="1581912"/>
            <a:ext cx="256032" cy="256032"/>
          </a:xfrm>
          <a:prstGeom prst="rect">
            <a:avLst/>
          </a:prstGeom>
        </p:spPr>
      </p:pic>
      <p:sp>
        <p:nvSpPr>
          <p:cNvPr id="16" name="Text 10"/>
          <p:cNvSpPr/>
          <p:nvPr/>
        </p:nvSpPr>
        <p:spPr>
          <a:xfrm>
            <a:off x="3154680" y="1874520"/>
            <a:ext cx="1005840" cy="22860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Vitals</a:t>
            </a:r>
            <a:endParaRPr lang="en-US" sz="900" dirty="0"/>
          </a:p>
        </p:txBody>
      </p:sp>
      <p:sp>
        <p:nvSpPr>
          <p:cNvPr id="17" name="Text 11"/>
          <p:cNvSpPr/>
          <p:nvPr/>
        </p:nvSpPr>
        <p:spPr>
          <a:xfrm>
            <a:off x="777240" y="2286000"/>
            <a:ext cx="3383280" cy="13716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Same CXR (bilateral infiltrates) :
</a:t>
            </a:r>
            <a:endParaRPr lang="en-US" sz="1050" dirty="0"/>
          </a:p>
          <a:p>
            <a:r>
              <a:rPr lang="en-US" sz="1000" dirty="0">
                <a:solidFill>
                  <a:srgbClr val="FFFFFF"/>
                </a:solidFill>
                <a:latin typeface="Calibri" pitchFamily="34" charset="0"/>
                <a:ea typeface="Calibri" pitchFamily="34" charset="-122"/>
                <a:cs typeface="Calibri" pitchFamily="34" charset="-120"/>
              </a:rPr>
              <a:t>  BNP↑  BP ↑  no fever  →  Heart failure?
  BNP normal  WBC↑  38.5°C  →  Pneumonia?
</a:t>
            </a:r>
            <a:endParaRPr lang="en-US" sz="1050" dirty="0"/>
          </a:p>
        </p:txBody>
      </p:sp>
      <p:sp>
        <p:nvSpPr>
          <p:cNvPr id="18" name="Shape 12"/>
          <p:cNvSpPr/>
          <p:nvPr/>
        </p:nvSpPr>
        <p:spPr>
          <a:xfrm>
            <a:off x="4754880" y="1005840"/>
            <a:ext cx="3840480" cy="2743200"/>
          </a:xfrm>
          <a:prstGeom prst="rect">
            <a:avLst/>
          </a:prstGeom>
          <a:solidFill>
            <a:srgbClr val="1B2A4A"/>
          </a:solidFill>
          <a:ln/>
        </p:spPr>
        <p:txBody>
          <a:bodyPr/>
          <a:lstStyle/>
          <a:p>
            <a:endParaRPr lang="en-US"/>
          </a:p>
        </p:txBody>
      </p:sp>
      <p:sp>
        <p:nvSpPr>
          <p:cNvPr id="19" name="Text 13"/>
          <p:cNvSpPr/>
          <p:nvPr/>
        </p:nvSpPr>
        <p:spPr>
          <a:xfrm>
            <a:off x="4983480" y="1097280"/>
            <a:ext cx="3383280" cy="274320"/>
          </a:xfrm>
          <a:prstGeom prst="rect">
            <a:avLst/>
          </a:prstGeom>
          <a:noFill/>
          <a:ln/>
        </p:spPr>
        <p:txBody>
          <a:bodyPr wrap="square" lIns="0" tIns="0" rIns="0" bIns="0"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The Problem</a:t>
            </a:r>
            <a:endParaRPr lang="en-US" sz="1300" dirty="0"/>
          </a:p>
        </p:txBody>
      </p:sp>
      <p:sp>
        <p:nvSpPr>
          <p:cNvPr id="20" name="Text 14"/>
          <p:cNvSpPr/>
          <p:nvPr/>
        </p:nvSpPr>
        <p:spPr>
          <a:xfrm>
            <a:off x="4983480" y="1463040"/>
            <a:ext cx="3429000" cy="2194560"/>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Current AI:</a:t>
            </a:r>
            <a:endParaRPr lang="en-US" sz="1200" dirty="0"/>
          </a:p>
          <a:p>
            <a:pPr marL="0" indent="0">
              <a:buNone/>
            </a:pPr>
            <a:r>
              <a:rPr lang="en-US" sz="1100" dirty="0">
                <a:solidFill>
                  <a:srgbClr val="E2E8F0"/>
                </a:solidFill>
                <a:latin typeface="Calibri" pitchFamily="34" charset="0"/>
                <a:ea typeface="Calibri" pitchFamily="34" charset="-122"/>
                <a:cs typeface="Calibri" pitchFamily="34" charset="-120"/>
              </a:rPr>
              <a:t>Always answers confidently.
Never says "I need more data."
</a:t>
            </a:r>
            <a:endParaRPr lang="en-US" sz="1200" dirty="0"/>
          </a:p>
          <a:p>
            <a:pPr marL="0" indent="0">
              <a:buNone/>
            </a:pPr>
            <a:r>
              <a:rPr lang="en-US" sz="1200" b="1" dirty="0">
                <a:solidFill>
                  <a:srgbClr val="14B8A6"/>
                </a:solidFill>
                <a:latin typeface="Calibri" pitchFamily="34" charset="0"/>
                <a:ea typeface="Calibri" pitchFamily="34" charset="-122"/>
                <a:cs typeface="Calibri" pitchFamily="34" charset="-120"/>
              </a:rPr>
              <a:t>Good clinician:</a:t>
            </a:r>
            <a:endParaRPr lang="en-US" sz="1200" dirty="0"/>
          </a:p>
          <a:p>
            <a:pPr marL="0" indent="0">
              <a:buNone/>
            </a:pPr>
            <a:r>
              <a:rPr lang="en-US" sz="1100" dirty="0">
                <a:solidFill>
                  <a:srgbClr val="E2E8F0"/>
                </a:solidFill>
                <a:latin typeface="Calibri" pitchFamily="34" charset="0"/>
                <a:ea typeface="Calibri" pitchFamily="34" charset="-122"/>
                <a:cs typeface="Calibri" pitchFamily="34" charset="-120"/>
              </a:rPr>
              <a:t>Recognizes conflicting data.
Orders additional tests.
</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This project:</a:t>
            </a:r>
            <a:endParaRPr lang="en-US" sz="1200" dirty="0"/>
          </a:p>
          <a:p>
            <a:pPr marL="0" indent="0">
              <a:buNone/>
            </a:pPr>
            <a:r>
              <a:rPr lang="en-US" sz="1100" dirty="0">
                <a:solidFill>
                  <a:srgbClr val="FFFFFF"/>
                </a:solidFill>
                <a:latin typeface="Calibri" pitchFamily="34" charset="0"/>
                <a:ea typeface="Calibri" pitchFamily="34" charset="-122"/>
                <a:cs typeface="Calibri" pitchFamily="34" charset="-120"/>
              </a:rPr>
              <a:t>Can we teach AI to recognize when it doesn't know?</a:t>
            </a:r>
            <a:endParaRPr lang="en-US" sz="1200" dirty="0"/>
          </a:p>
        </p:txBody>
      </p:sp>
      <p:sp>
        <p:nvSpPr>
          <p:cNvPr id="21" name="Shape 15"/>
          <p:cNvSpPr/>
          <p:nvPr/>
        </p:nvSpPr>
        <p:spPr>
          <a:xfrm>
            <a:off x="0" y="4023360"/>
            <a:ext cx="9144000" cy="1124712"/>
          </a:xfrm>
          <a:prstGeom prst="rect">
            <a:avLst/>
          </a:prstGeom>
          <a:solidFill>
            <a:srgbClr val="0B3D36"/>
          </a:solidFill>
          <a:ln/>
        </p:spPr>
        <p:txBody>
          <a:bodyPr/>
          <a:lstStyle/>
          <a:p>
            <a:endParaRPr lang="en-US"/>
          </a:p>
        </p:txBody>
      </p:sp>
      <p:sp>
        <p:nvSpPr>
          <p:cNvPr id="22" name="Shape 16"/>
          <p:cNvSpPr/>
          <p:nvPr/>
        </p:nvSpPr>
        <p:spPr>
          <a:xfrm>
            <a:off x="0" y="5088636"/>
            <a:ext cx="9144000" cy="54864"/>
          </a:xfrm>
          <a:prstGeom prst="rect">
            <a:avLst/>
          </a:prstGeom>
          <a:solidFill>
            <a:srgbClr val="0D9488"/>
          </a:solidFill>
          <a:ln/>
        </p:spPr>
        <p:txBody>
          <a:bodyPr/>
          <a:lstStyle/>
          <a:p>
            <a:endParaRPr lang="en-US"/>
          </a:p>
        </p:txBody>
      </p:sp>
      <p:sp>
        <p:nvSpPr>
          <p:cNvPr id="23" name="Text 17"/>
          <p:cNvSpPr/>
          <p:nvPr/>
        </p:nvSpPr>
        <p:spPr>
          <a:xfrm>
            <a:off x="731520" y="4160520"/>
            <a:ext cx="7680960" cy="822960"/>
          </a:xfrm>
          <a:prstGeom prst="rect">
            <a:avLst/>
          </a:prstGeom>
          <a:noFill/>
          <a:ln/>
        </p:spPr>
        <p:txBody>
          <a:bodyPr wrap="square" lIns="0" tIns="0" rIns="0" bIns="0" rtlCol="0" anchor="ctr"/>
          <a:lstStyle/>
          <a:p>
            <a:r>
              <a:rPr lang="en-US" sz="1200" b="1" dirty="0">
                <a:solidFill>
                  <a:srgbClr val="0D9488"/>
                </a:solidFill>
                <a:latin typeface="Calibri" pitchFamily="34" charset="0"/>
                <a:ea typeface="Calibri" pitchFamily="34" charset="-122"/>
                <a:cs typeface="Calibri" pitchFamily="34" charset="-120"/>
              </a:rPr>
              <a:t>Core thesis:  </a:t>
            </a:r>
            <a:r>
              <a:rPr lang="en-US" sz="1200" dirty="0">
                <a:solidFill>
                  <a:srgbClr val="FFFFFF"/>
                </a:solidFill>
                <a:latin typeface="Calibri" pitchFamily="34" charset="0"/>
                <a:ea typeface="Calibri" pitchFamily="34" charset="-122"/>
                <a:cs typeface="Calibri" pitchFamily="34" charset="-120"/>
              </a:rPr>
              <a:t>"Knowing what I don't know" is the correct clinical behavior.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sp>
        <p:nvSpPr>
          <p:cNvPr id="3" name="Text 1"/>
          <p:cNvSpPr/>
          <p:nvPr/>
        </p:nvSpPr>
        <p:spPr>
          <a:xfrm>
            <a:off x="548640" y="182880"/>
            <a:ext cx="4572000" cy="365760"/>
          </a:xfrm>
          <a:prstGeom prst="rect">
            <a:avLst/>
          </a:prstGeom>
          <a:noFill/>
          <a:ln/>
        </p:spPr>
        <p:txBody>
          <a:bodyPr wrap="square" lIns="0" tIns="0" rIns="0" bIns="0" rtlCol="0" anchor="ctr"/>
          <a:lstStyle/>
          <a:p>
            <a:pPr marL="0" indent="0">
              <a:buNone/>
            </a:pPr>
            <a:r>
              <a:rPr lang="en-US" sz="2200" b="1" dirty="0">
                <a:solidFill>
                  <a:srgbClr val="1E293B"/>
                </a:solidFill>
                <a:latin typeface="Trebuchet MS" pitchFamily="34" charset="0"/>
                <a:ea typeface="Trebuchet MS" pitchFamily="34" charset="-122"/>
                <a:cs typeface="Trebuchet MS" pitchFamily="34" charset="-120"/>
              </a:rPr>
              <a:t>Study Design</a:t>
            </a:r>
            <a:endParaRPr lang="en-US" sz="2200" dirty="0"/>
          </a:p>
        </p:txBody>
      </p:sp>
      <p:sp>
        <p:nvSpPr>
          <p:cNvPr id="4" name="Text 2"/>
          <p:cNvSpPr/>
          <p:nvPr/>
        </p:nvSpPr>
        <p:spPr>
          <a:xfrm>
            <a:off x="548640" y="530352"/>
            <a:ext cx="804672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MIMIC-CXR + MIMIC-IV  |  </a:t>
            </a:r>
            <a:r>
              <a:rPr lang="en-US" sz="1000" dirty="0" err="1">
                <a:solidFill>
                  <a:srgbClr val="475569"/>
                </a:solidFill>
                <a:latin typeface="Calibri" pitchFamily="34" charset="0"/>
                <a:ea typeface="Calibri" pitchFamily="34" charset="-122"/>
                <a:cs typeface="Calibri" pitchFamily="34" charset="-120"/>
              </a:rPr>
              <a:t>MedGemma</a:t>
            </a:r>
            <a:r>
              <a:rPr lang="en-US" sz="1000" dirty="0">
                <a:solidFill>
                  <a:srgbClr val="475569"/>
                </a:solidFill>
                <a:latin typeface="Calibri" pitchFamily="34" charset="0"/>
                <a:ea typeface="Calibri" pitchFamily="34" charset="-122"/>
                <a:cs typeface="Calibri" pitchFamily="34" charset="-120"/>
              </a:rPr>
              <a:t> </a:t>
            </a:r>
            <a:endParaRPr lang="en-US" sz="1000" dirty="0"/>
          </a:p>
        </p:txBody>
      </p:sp>
      <p:sp>
        <p:nvSpPr>
          <p:cNvPr id="5" name="Text 3"/>
          <p:cNvSpPr/>
          <p:nvPr/>
        </p:nvSpPr>
        <p:spPr>
          <a:xfrm>
            <a:off x="548640" y="1078992"/>
            <a:ext cx="365760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Foundation (All Students)</a:t>
            </a:r>
            <a:endParaRPr lang="en-US" sz="1000" dirty="0"/>
          </a:p>
        </p:txBody>
      </p:sp>
      <p:sp>
        <p:nvSpPr>
          <p:cNvPr id="6" name="Shape 4"/>
          <p:cNvSpPr/>
          <p:nvPr/>
        </p:nvSpPr>
        <p:spPr>
          <a:xfrm>
            <a:off x="548640" y="1353312"/>
            <a:ext cx="3977640" cy="105156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7" name="Shape 5"/>
          <p:cNvSpPr/>
          <p:nvPr/>
        </p:nvSpPr>
        <p:spPr>
          <a:xfrm>
            <a:off x="548640" y="1353312"/>
            <a:ext cx="3977640" cy="347472"/>
          </a:xfrm>
          <a:prstGeom prst="rect">
            <a:avLst/>
          </a:prstGeom>
          <a:solidFill>
            <a:srgbClr val="0D948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4160520" y="1408176"/>
            <a:ext cx="219456" cy="219456"/>
          </a:xfrm>
          <a:prstGeom prst="rect">
            <a:avLst/>
          </a:prstGeom>
        </p:spPr>
      </p:pic>
      <p:sp>
        <p:nvSpPr>
          <p:cNvPr id="9" name="Text 6"/>
          <p:cNvSpPr/>
          <p:nvPr/>
        </p:nvSpPr>
        <p:spPr>
          <a:xfrm>
            <a:off x="685800" y="1408176"/>
            <a:ext cx="32461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Step 1: Build Benchmark</a:t>
            </a:r>
            <a:endParaRPr lang="en-US" sz="1200" dirty="0"/>
          </a:p>
        </p:txBody>
      </p:sp>
      <p:sp>
        <p:nvSpPr>
          <p:cNvPr id="10" name="Text 7"/>
          <p:cNvSpPr/>
          <p:nvPr/>
        </p:nvSpPr>
        <p:spPr>
          <a:xfrm>
            <a:off x="685800" y="1764792"/>
            <a:ext cx="3703320" cy="59436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3 modalities (CXR, Lab, Vitals) × 3 diagnoses (Pneumonia, HF, Pneumothorax)
</a:t>
            </a:r>
            <a:r>
              <a:rPr lang="en-US" sz="950" b="1" dirty="0">
                <a:solidFill>
                  <a:srgbClr val="0D9488"/>
                </a:solidFill>
                <a:latin typeface="Calibri" pitchFamily="34" charset="0"/>
                <a:ea typeface="Calibri" pitchFamily="34" charset="-122"/>
                <a:cs typeface="Calibri" pitchFamily="34" charset="-120"/>
              </a:rPr>
              <a:t>Concordant cases + systematic discordance generation</a:t>
            </a:r>
            <a:endParaRPr lang="en-US" sz="950" dirty="0"/>
          </a:p>
        </p:txBody>
      </p:sp>
      <p:sp>
        <p:nvSpPr>
          <p:cNvPr id="11" name="Shape 8"/>
          <p:cNvSpPr/>
          <p:nvPr/>
        </p:nvSpPr>
        <p:spPr>
          <a:xfrm>
            <a:off x="4709160" y="1353312"/>
            <a:ext cx="3977640" cy="105156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12" name="Shape 9"/>
          <p:cNvSpPr/>
          <p:nvPr/>
        </p:nvSpPr>
        <p:spPr>
          <a:xfrm>
            <a:off x="4709160" y="1353312"/>
            <a:ext cx="3977640" cy="347472"/>
          </a:xfrm>
          <a:prstGeom prst="rect">
            <a:avLst/>
          </a:prstGeom>
          <a:solidFill>
            <a:srgbClr val="0E749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8321040" y="1408176"/>
            <a:ext cx="219456" cy="219456"/>
          </a:xfrm>
          <a:prstGeom prst="rect">
            <a:avLst/>
          </a:prstGeom>
        </p:spPr>
      </p:pic>
      <p:sp>
        <p:nvSpPr>
          <p:cNvPr id="14" name="Text 10"/>
          <p:cNvSpPr/>
          <p:nvPr/>
        </p:nvSpPr>
        <p:spPr>
          <a:xfrm>
            <a:off x="4846320" y="1408176"/>
            <a:ext cx="324612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Step 2: Baseline Performance</a:t>
            </a:r>
            <a:endParaRPr lang="en-US" sz="1200" dirty="0"/>
          </a:p>
        </p:txBody>
      </p:sp>
      <p:sp>
        <p:nvSpPr>
          <p:cNvPr id="15" name="Text 11"/>
          <p:cNvSpPr/>
          <p:nvPr/>
        </p:nvSpPr>
        <p:spPr>
          <a:xfrm>
            <a:off x="4846320" y="1764792"/>
            <a:ext cx="3703320" cy="59436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Concordant data → </a:t>
            </a:r>
            <a:r>
              <a:rPr lang="en-US" sz="950" dirty="0" err="1">
                <a:solidFill>
                  <a:srgbClr val="475569"/>
                </a:solidFill>
                <a:latin typeface="Calibri" pitchFamily="34" charset="0"/>
                <a:ea typeface="Calibri" pitchFamily="34" charset="-122"/>
                <a:cs typeface="Calibri" pitchFamily="34" charset="-120"/>
              </a:rPr>
              <a:t>MedGemma</a:t>
            </a:r>
            <a:r>
              <a:rPr lang="en-US" sz="950" dirty="0">
                <a:solidFill>
                  <a:srgbClr val="475569"/>
                </a:solidFill>
                <a:latin typeface="Calibri" pitchFamily="34" charset="0"/>
                <a:ea typeface="Calibri" pitchFamily="34" charset="-122"/>
                <a:cs typeface="Calibri" pitchFamily="34" charset="-120"/>
              </a:rPr>
              <a:t>
</a:t>
            </a:r>
            <a:r>
              <a:rPr lang="en-US" sz="950" b="1" dirty="0">
                <a:solidFill>
                  <a:srgbClr val="0E7490"/>
                </a:solidFill>
                <a:latin typeface="Calibri" pitchFamily="34" charset="0"/>
                <a:ea typeface="Calibri" pitchFamily="34" charset="-122"/>
                <a:cs typeface="Calibri" pitchFamily="34" charset="-120"/>
              </a:rPr>
              <a:t>Measure accuracy, logit entropy, confidence</a:t>
            </a:r>
            <a:endParaRPr lang="en-US" sz="950" dirty="0"/>
          </a:p>
        </p:txBody>
      </p:sp>
      <p:sp>
        <p:nvSpPr>
          <p:cNvPr id="16" name="Text 12"/>
          <p:cNvSpPr/>
          <p:nvPr/>
        </p:nvSpPr>
        <p:spPr>
          <a:xfrm>
            <a:off x="548640" y="2569464"/>
            <a:ext cx="5486400" cy="22860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Research Options</a:t>
            </a:r>
            <a:endParaRPr lang="en-US" sz="1000" dirty="0"/>
          </a:p>
        </p:txBody>
      </p:sp>
      <p:sp>
        <p:nvSpPr>
          <p:cNvPr id="17" name="Shape 13"/>
          <p:cNvSpPr/>
          <p:nvPr/>
        </p:nvSpPr>
        <p:spPr>
          <a:xfrm>
            <a:off x="548640" y="2871216"/>
            <a:ext cx="2624328" cy="1417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18" name="Shape 14"/>
          <p:cNvSpPr/>
          <p:nvPr/>
        </p:nvSpPr>
        <p:spPr>
          <a:xfrm>
            <a:off x="548640" y="2871216"/>
            <a:ext cx="2624328" cy="347472"/>
          </a:xfrm>
          <a:prstGeom prst="rect">
            <a:avLst/>
          </a:prstGeom>
          <a:solidFill>
            <a:srgbClr val="0369A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2825496" y="2926080"/>
            <a:ext cx="201168" cy="201168"/>
          </a:xfrm>
          <a:prstGeom prst="rect">
            <a:avLst/>
          </a:prstGeom>
        </p:spPr>
      </p:pic>
      <p:sp>
        <p:nvSpPr>
          <p:cNvPr id="20" name="Text 15"/>
          <p:cNvSpPr/>
          <p:nvPr/>
        </p:nvSpPr>
        <p:spPr>
          <a:xfrm>
            <a:off x="640080" y="2898648"/>
            <a:ext cx="502920" cy="100584"/>
          </a:xfrm>
          <a:prstGeom prst="rect">
            <a:avLst/>
          </a:prstGeom>
          <a:noFill/>
          <a:ln/>
        </p:spPr>
        <p:txBody>
          <a:bodyPr wrap="square" lIns="0" tIns="0" rIns="0" bIns="0" rtlCol="0" anchor="ctr"/>
          <a:lstStyle/>
          <a:p>
            <a:pPr marL="0" indent="0">
              <a:buNone/>
            </a:pPr>
            <a:r>
              <a:rPr lang="en-US" sz="750" b="1" dirty="0">
                <a:solidFill>
                  <a:srgbClr val="FFFFFF">
                    <a:alpha val="70000"/>
                  </a:srgbClr>
                </a:solidFill>
                <a:latin typeface="Calibri" pitchFamily="34" charset="0"/>
                <a:ea typeface="Calibri" pitchFamily="34" charset="-122"/>
                <a:cs typeface="Calibri" pitchFamily="34" charset="-120"/>
              </a:rPr>
              <a:t>Option A</a:t>
            </a:r>
            <a:endParaRPr lang="en-US" sz="750" dirty="0"/>
          </a:p>
        </p:txBody>
      </p:sp>
      <p:sp>
        <p:nvSpPr>
          <p:cNvPr id="21" name="Text 16"/>
          <p:cNvSpPr/>
          <p:nvPr/>
        </p:nvSpPr>
        <p:spPr>
          <a:xfrm>
            <a:off x="640080" y="2980944"/>
            <a:ext cx="2075688" cy="20116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Uncertainty Recognition</a:t>
            </a:r>
            <a:endParaRPr lang="en-US" sz="1100" dirty="0"/>
          </a:p>
        </p:txBody>
      </p:sp>
      <p:sp>
        <p:nvSpPr>
          <p:cNvPr id="22" name="Text 17"/>
          <p:cNvSpPr/>
          <p:nvPr/>
        </p:nvSpPr>
        <p:spPr>
          <a:xfrm>
            <a:off x="658368" y="3282696"/>
            <a:ext cx="2404872" cy="91440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Does AI know when it doesn't know?
</a:t>
            </a:r>
            <a:r>
              <a:rPr lang="en-US" sz="900" dirty="0">
                <a:solidFill>
                  <a:srgbClr val="475569"/>
                </a:solidFill>
                <a:latin typeface="Calibri" pitchFamily="34" charset="0"/>
                <a:ea typeface="Calibri" pitchFamily="34" charset="-122"/>
                <a:cs typeface="Calibri" pitchFamily="34" charset="-120"/>
              </a:rPr>
              <a:t>Introduce discordance between modalities and measure whether entropy rises and confidence drops.</a:t>
            </a:r>
            <a:endParaRPr lang="en-US" sz="950" dirty="0"/>
          </a:p>
        </p:txBody>
      </p:sp>
      <p:sp>
        <p:nvSpPr>
          <p:cNvPr id="23" name="Shape 18"/>
          <p:cNvSpPr/>
          <p:nvPr/>
        </p:nvSpPr>
        <p:spPr>
          <a:xfrm>
            <a:off x="3310128" y="2871216"/>
            <a:ext cx="2624328" cy="1417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24" name="Shape 19"/>
          <p:cNvSpPr/>
          <p:nvPr/>
        </p:nvSpPr>
        <p:spPr>
          <a:xfrm>
            <a:off x="3310128" y="2871216"/>
            <a:ext cx="2624328" cy="347472"/>
          </a:xfrm>
          <a:prstGeom prst="rect">
            <a:avLst/>
          </a:prstGeom>
          <a:solidFill>
            <a:srgbClr val="1E293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586984" y="2926080"/>
            <a:ext cx="201168" cy="201168"/>
          </a:xfrm>
          <a:prstGeom prst="rect">
            <a:avLst/>
          </a:prstGeom>
        </p:spPr>
      </p:pic>
      <p:sp>
        <p:nvSpPr>
          <p:cNvPr id="26" name="Text 20"/>
          <p:cNvSpPr/>
          <p:nvPr/>
        </p:nvSpPr>
        <p:spPr>
          <a:xfrm>
            <a:off x="3401568" y="2898648"/>
            <a:ext cx="530352" cy="146304"/>
          </a:xfrm>
          <a:prstGeom prst="rect">
            <a:avLst/>
          </a:prstGeom>
          <a:noFill/>
          <a:ln/>
        </p:spPr>
        <p:txBody>
          <a:bodyPr wrap="square" lIns="0" tIns="0" rIns="0" bIns="0" rtlCol="0" anchor="ctr"/>
          <a:lstStyle/>
          <a:p>
            <a:pPr marL="0" indent="0">
              <a:buNone/>
            </a:pPr>
            <a:r>
              <a:rPr lang="en-US" sz="750" b="1" dirty="0">
                <a:solidFill>
                  <a:srgbClr val="FFFFFF">
                    <a:alpha val="70000"/>
                  </a:srgbClr>
                </a:solidFill>
                <a:latin typeface="Calibri" pitchFamily="34" charset="0"/>
                <a:ea typeface="Calibri" pitchFamily="34" charset="-122"/>
                <a:cs typeface="Calibri" pitchFamily="34" charset="-120"/>
              </a:rPr>
              <a:t>Option B</a:t>
            </a:r>
            <a:endParaRPr lang="en-US" sz="750" dirty="0"/>
          </a:p>
        </p:txBody>
      </p:sp>
      <p:sp>
        <p:nvSpPr>
          <p:cNvPr id="27" name="Text 21"/>
          <p:cNvSpPr/>
          <p:nvPr/>
        </p:nvSpPr>
        <p:spPr>
          <a:xfrm>
            <a:off x="3401568" y="2980944"/>
            <a:ext cx="2075688" cy="20116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Value of Additional Data</a:t>
            </a:r>
            <a:endParaRPr lang="en-US" sz="1100" dirty="0"/>
          </a:p>
        </p:txBody>
      </p:sp>
      <p:sp>
        <p:nvSpPr>
          <p:cNvPr id="28" name="Text 22"/>
          <p:cNvSpPr/>
          <p:nvPr/>
        </p:nvSpPr>
        <p:spPr>
          <a:xfrm>
            <a:off x="3419856" y="3282696"/>
            <a:ext cx="2404872" cy="91440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Does more data fix the problem?
</a:t>
            </a:r>
            <a:r>
              <a:rPr lang="en-US" sz="900" dirty="0">
                <a:solidFill>
                  <a:srgbClr val="475569"/>
                </a:solidFill>
                <a:latin typeface="Calibri" pitchFamily="34" charset="0"/>
                <a:ea typeface="Calibri" pitchFamily="34" charset="-122"/>
                <a:cs typeface="Calibri" pitchFamily="34" charset="-120"/>
              </a:rPr>
              <a:t>When AI is uncertain with 2 modalities, add the 3rd. Measure how often diagnosis converges.</a:t>
            </a:r>
            <a:endParaRPr lang="en-US" sz="950" dirty="0"/>
          </a:p>
        </p:txBody>
      </p:sp>
      <p:sp>
        <p:nvSpPr>
          <p:cNvPr id="29" name="Shape 23"/>
          <p:cNvSpPr/>
          <p:nvPr/>
        </p:nvSpPr>
        <p:spPr>
          <a:xfrm>
            <a:off x="6071616" y="2871216"/>
            <a:ext cx="2624328" cy="1417320"/>
          </a:xfrm>
          <a:prstGeom prst="rect">
            <a:avLst/>
          </a:prstGeom>
          <a:solidFill>
            <a:srgbClr val="FFFFFF"/>
          </a:solidFill>
          <a:ln/>
          <a:effectLst>
            <a:outerShdw blurRad="38100" dist="12700" dir="8100000" algn="bl" rotWithShape="0">
              <a:srgbClr val="000000">
                <a:alpha val="6000"/>
              </a:srgbClr>
            </a:outerShdw>
          </a:effectLst>
        </p:spPr>
        <p:txBody>
          <a:bodyPr/>
          <a:lstStyle/>
          <a:p>
            <a:endParaRPr lang="en-US"/>
          </a:p>
        </p:txBody>
      </p:sp>
      <p:sp>
        <p:nvSpPr>
          <p:cNvPr id="30" name="Shape 24"/>
          <p:cNvSpPr/>
          <p:nvPr/>
        </p:nvSpPr>
        <p:spPr>
          <a:xfrm>
            <a:off x="6071616" y="2871216"/>
            <a:ext cx="2624328" cy="347472"/>
          </a:xfrm>
          <a:prstGeom prst="rect">
            <a:avLst/>
          </a:prstGeom>
          <a:solidFill>
            <a:srgbClr val="7C3AED"/>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8348472" y="2926080"/>
            <a:ext cx="201168" cy="201168"/>
          </a:xfrm>
          <a:prstGeom prst="rect">
            <a:avLst/>
          </a:prstGeom>
        </p:spPr>
      </p:pic>
      <p:sp>
        <p:nvSpPr>
          <p:cNvPr id="32" name="Text 25"/>
          <p:cNvSpPr/>
          <p:nvPr/>
        </p:nvSpPr>
        <p:spPr>
          <a:xfrm>
            <a:off x="6163056" y="2898648"/>
            <a:ext cx="493466" cy="100584"/>
          </a:xfrm>
          <a:prstGeom prst="rect">
            <a:avLst/>
          </a:prstGeom>
          <a:noFill/>
          <a:ln/>
        </p:spPr>
        <p:txBody>
          <a:bodyPr wrap="square" lIns="0" tIns="0" rIns="0" bIns="0" rtlCol="0" anchor="ctr"/>
          <a:lstStyle/>
          <a:p>
            <a:pPr marL="0" indent="0">
              <a:buNone/>
            </a:pPr>
            <a:r>
              <a:rPr lang="en-US" sz="750" b="1" dirty="0">
                <a:solidFill>
                  <a:srgbClr val="FFFFFF">
                    <a:alpha val="70000"/>
                  </a:srgbClr>
                </a:solidFill>
                <a:latin typeface="Calibri" pitchFamily="34" charset="0"/>
                <a:ea typeface="Calibri" pitchFamily="34" charset="-122"/>
                <a:cs typeface="Calibri" pitchFamily="34" charset="-120"/>
              </a:rPr>
              <a:t>Option C</a:t>
            </a:r>
            <a:endParaRPr lang="en-US" sz="750" dirty="0"/>
          </a:p>
        </p:txBody>
      </p:sp>
      <p:sp>
        <p:nvSpPr>
          <p:cNvPr id="33" name="Text 26"/>
          <p:cNvSpPr/>
          <p:nvPr/>
        </p:nvSpPr>
        <p:spPr>
          <a:xfrm>
            <a:off x="6163056" y="2980944"/>
            <a:ext cx="2075688" cy="20116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RL Implementation</a:t>
            </a:r>
            <a:endParaRPr lang="en-US" sz="1100" dirty="0"/>
          </a:p>
        </p:txBody>
      </p:sp>
      <p:sp>
        <p:nvSpPr>
          <p:cNvPr id="34" name="Text 27"/>
          <p:cNvSpPr/>
          <p:nvPr/>
        </p:nvSpPr>
        <p:spPr>
          <a:xfrm>
            <a:off x="6181344" y="3282696"/>
            <a:ext cx="2404872" cy="91440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Can AI learn when to ask?
</a:t>
            </a:r>
            <a:r>
              <a:rPr lang="en-US" sz="900" dirty="0">
                <a:solidFill>
                  <a:srgbClr val="475569"/>
                </a:solidFill>
                <a:latin typeface="Calibri" pitchFamily="34" charset="0"/>
                <a:ea typeface="Calibri" pitchFamily="34" charset="-122"/>
                <a:cs typeface="Calibri" pitchFamily="34" charset="-120"/>
              </a:rPr>
              <a:t>Train RL agent: answer when confident, request more data when uncertain. </a:t>
            </a:r>
            <a:r>
              <a:rPr lang="en-US" sz="850" b="1" dirty="0">
                <a:solidFill>
                  <a:srgbClr val="F59E0B"/>
                </a:solidFill>
                <a:latin typeface="Calibri" pitchFamily="34" charset="0"/>
                <a:ea typeface="Calibri" pitchFamily="34" charset="-122"/>
                <a:cs typeface="Calibri" pitchFamily="34" charset="-120"/>
              </a:rPr>
              <a:t>(advanced)</a:t>
            </a:r>
            <a:endParaRPr lang="en-US" sz="950" dirty="0"/>
          </a:p>
        </p:txBody>
      </p:sp>
      <p:sp>
        <p:nvSpPr>
          <p:cNvPr id="36" name="Shape 29"/>
          <p:cNvSpPr/>
          <p:nvPr/>
        </p:nvSpPr>
        <p:spPr>
          <a:xfrm>
            <a:off x="0" y="5088636"/>
            <a:ext cx="9144000" cy="54864"/>
          </a:xfrm>
          <a:prstGeom prst="rect">
            <a:avLst/>
          </a:prstGeom>
          <a:solidFill>
            <a:srgbClr val="0D9488"/>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740</Words>
  <Application>Microsoft Macintosh PowerPoint</Application>
  <PresentationFormat>On-screen Show (16:9)</PresentationFormat>
  <Paragraphs>50</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Trebuchet MS</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Takeshi Tohyama</cp:lastModifiedBy>
  <cp:revision>6</cp:revision>
  <dcterms:created xsi:type="dcterms:W3CDTF">2026-02-13T03:38:46Z</dcterms:created>
  <dcterms:modified xsi:type="dcterms:W3CDTF">2026-02-13T14:34:36Z</dcterms:modified>
</cp:coreProperties>
</file>